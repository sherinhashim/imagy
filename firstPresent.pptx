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1"/>
  </p:notesMasterIdLst>
  <p:sldIdLst>
    <p:sldId id="256" r:id="rId2"/>
    <p:sldId id="257" r:id="rId3"/>
    <p:sldId id="259" r:id="rId4"/>
    <p:sldId id="267" r:id="rId5"/>
    <p:sldId id="268" r:id="rId6"/>
    <p:sldId id="269" r:id="rId7"/>
    <p:sldId id="270" r:id="rId8"/>
    <p:sldId id="271" r:id="rId9"/>
    <p:sldId id="284" r:id="rId10"/>
    <p:sldId id="285" r:id="rId11"/>
    <p:sldId id="286" r:id="rId12"/>
    <p:sldId id="287" r:id="rId13"/>
    <p:sldId id="272" r:id="rId14"/>
    <p:sldId id="273" r:id="rId15"/>
    <p:sldId id="288" r:id="rId16"/>
    <p:sldId id="261" r:id="rId17"/>
    <p:sldId id="274" r:id="rId18"/>
    <p:sldId id="275" r:id="rId19"/>
    <p:sldId id="276" r:id="rId20"/>
    <p:sldId id="279" r:id="rId21"/>
    <p:sldId id="280" r:id="rId22"/>
    <p:sldId id="262" r:id="rId23"/>
    <p:sldId id="290" r:id="rId24"/>
    <p:sldId id="293" r:id="rId25"/>
    <p:sldId id="283" r:id="rId26"/>
    <p:sldId id="264" r:id="rId27"/>
    <p:sldId id="265" r:id="rId28"/>
    <p:sldId id="294" r:id="rId29"/>
    <p:sldId id="26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D418F-2085-4E96-A757-43DF95D91BE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B2CFC-C6E0-41F2-BF5F-98CDFD8F6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30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2CFC-C6E0-41F2-BF5F-98CDFD8F634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157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B2CFC-C6E0-41F2-BF5F-98CDFD8F634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33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71B2C-C52A-4499-80B2-223FE39F2A13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0907-67C0-4F1E-8145-26A191658335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158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0BFB-658F-4D47-8EEA-8F874276194F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18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0302-6C46-4DB3-9823-42BF445C6E0C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118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02B2-D3D3-40B6-8C7F-8E257BFF085E}" type="datetime1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43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A0946-83A4-4CF7-8E7D-B650B27AC7D6}" type="datetime1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07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2A2D3-A561-40FE-B49A-A2F1805EB1A7}" type="datetime1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42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CDE93CC-2D85-4A2B-B495-599988F2B4C1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187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1B17-AE15-4AE0-BA79-55E7A0D6FD18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34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416A-2D38-40A7-A072-EB110289190D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101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6C5E-CDC5-48E0-87CD-0061C9887D28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69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CE98CC0-C56D-45A1-AAEA-243808FEC0E2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BB5964A-7B3A-4095-87D3-3590E8B41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52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9294-250D-1B6F-5EF1-A463D64093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Cropping-Resistant Robust Reversible Watermarking Using Local Zernike Moments and CNN-Based Feature Detection</a:t>
            </a:r>
            <a:endParaRPr lang="en-IN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28211-CFEF-794F-E36F-09FFA905CA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IN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  <a:r>
              <a:rPr lang="en-IN" sz="17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SREEKANTH E S</a:t>
            </a:r>
          </a:p>
          <a:p>
            <a:r>
              <a:rPr lang="en-IN" sz="17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ASSISTANT PROFESSOR</a:t>
            </a:r>
          </a:p>
          <a:p>
            <a:r>
              <a:rPr lang="en-IN" sz="17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DEPARTMENT OF CSE</a:t>
            </a:r>
          </a:p>
          <a:p>
            <a:pPr algn="l"/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56220-42F2-CBC6-7EB5-0F2476A24669}"/>
              </a:ext>
            </a:extLst>
          </p:cNvPr>
          <p:cNvSpPr txBox="1"/>
          <p:nvPr/>
        </p:nvSpPr>
        <p:spPr>
          <a:xfrm>
            <a:off x="8129016" y="4455620"/>
            <a:ext cx="384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SHERIN 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S3 M. Tech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MES24CSCE05</a:t>
            </a:r>
          </a:p>
          <a:p>
            <a:r>
              <a:rPr lang="en-IN" dirty="0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D853A-A096-51A4-4EEF-92FF530F9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68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21D7-3299-97AE-F914-A2A2D0B0B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0C3CC-6298-CE6D-1C55-3A51DA96B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media is vulnerable to unauthorized copying and tampering.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Digital Watermarking?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technique that embeds copyright information or privacy labels into a carrier based on specific rules.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Watermarking ensures ownership, authenticity, and integrity.</a:t>
            </a:r>
          </a:p>
          <a:p>
            <a:pPr marL="292608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508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608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EA645-FFCA-FB06-F95E-4DF2DEAF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59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13BD-BBD0-1E0A-8383-D82AF663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2B5C-6015-E6D1-A9CE-C42F17405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watermarking methods change the original image in a way that cannot be fully recovered after the watermark is removed.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fields like medical, military, and satellite imaging, even tiny changes in the image are not acceptable.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Reversible watermarking is a technique that allows the hidden watermark to be removed and the original image can be completely restored without any loss or change.</a:t>
            </a:r>
          </a:p>
          <a:p>
            <a:pPr marL="201168" lvl="1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F25A3-8606-1B54-CCD3-43EAA57B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78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5042-C73A-E411-D9B0-D120B29D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C497C-564F-4282-AF39-AD15D02F6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Reversible Image Watermarking Based on Histogram Modification and Virtual Border[1]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proposes a reversible image watermarking method using histogram modification and a virtual border to protect the originality of digital images.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color histogram of the image is slightly modified to embed bits.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changes are stored in a virtual border (around the image) to allow exact recovery.</a:t>
            </a:r>
          </a:p>
          <a:p>
            <a:pPr mar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steps:</a:t>
            </a:r>
          </a:p>
          <a:p>
            <a:pPr marL="452628" lvl="1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image color histogram (pixel intensity distribution).</a:t>
            </a:r>
          </a:p>
          <a:p>
            <a:pPr marL="452628" lvl="1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watermark bits by modifying histogram bins:</a:t>
            </a:r>
          </a:p>
          <a:p>
            <a:pPr marL="109728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Increment the pixel count for one histogram bin → embed bit ‘1’</a:t>
            </a:r>
          </a:p>
          <a:p>
            <a:pPr marL="109728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Decrement the pixel count for one histogram bin → embed bit ‘0’</a:t>
            </a:r>
          </a:p>
          <a:p>
            <a:pPr marL="109728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C5BE4-DF2E-FA0D-1191-B4DD978B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70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6502-9996-19B4-75AD-D9BE6C02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CAF6E-BBBD-9326-B3EB-2491B4C7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details of modified pixels in the LSBs of the virtual border.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receiver side: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bits from the histogram.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border data to reverse changes and recover the original image perfectly.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cropping, compression, or rotation , watermark easily destroyed.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Fails for images with sparse or irregular histograms.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B32C6-6F9F-67E8-C4AF-778DD095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50BE-77A7-284C-7D25-A0220BCF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735A-65DE-3B94-0DD5-8119B57FC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Lossless Image Data Hiding Designed for Semi-Fragile Image Authentication[2]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combines robust watermarking (survives compression) and reversible watermarking (lossless recovery) Based on the Patchwork Statistical Theory.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image into random pixel groups (A and B).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watermark bits by slightly modifying their average pixel values: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‘1’ → make Group A’s average &gt; Group B’s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‘0’ → make Group A’s average &lt; Group B’s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are tiny (±1), keeping image quality high.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A8AD0-7162-E122-A995-ACC9F239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51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0ED3A-A09D-C3DC-CDC9-3EFE6E69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7B249-6192-5C5F-B3B4-A7652A337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Steps: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image into random pixel group pairs (A, B) using a secret key.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watermark bit: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1: increase mean of Group A slightly.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0: decrease mean of Group A slightly.</a:t>
            </a:r>
          </a:p>
          <a:p>
            <a:pPr marL="201168" lvl="1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Process: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Recreate pixel group pairs using the same secret key.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mean values: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&gt; </a:t>
            </a: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bit 1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&lt; </a:t>
            </a: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bit 0</a:t>
            </a:r>
          </a:p>
          <a:p>
            <a:pPr marL="384048" lvl="2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8368" lvl="1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EF355-4954-FB23-106C-182464F7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28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0442-A912-1004-D453-1F84C869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E67BC-A9FC-ABCB-9ED2-A644EB030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Fails under geometric attacks (rotation, scaling, cropping).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Low capacity for data embedding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7EC65-2E58-3489-2F88-4A9D6C6E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076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5455-5FCF-407F-1C58-93D9104D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9D74-9954-2904-9727-EA4D909E0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Index Modulation: A Class of Provably Good Methods for Digital Watermarking and Information Embedding[3]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explains the limitations of existing watermarking methods and proposes a new technique called Quantization Index Modulation (QIM) to overcome them.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QIM was proposed, researchers mainly used: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Significant Bit (LSB) Embedding:</a:t>
            </a:r>
          </a:p>
          <a:p>
            <a:pPr marL="932688" lvl="2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last bit of pixel values with watermark bits.</a:t>
            </a:r>
          </a:p>
          <a:p>
            <a:pPr marL="932688" lvl="2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destroyed by noise, compression, or small attacks.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0B253-290E-BA7A-1098-852B2E49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639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37BA-D95F-72E3-0F25-D98A25A9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CEC5F-5FEC-FCF9-F966-8C82905CA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Index Modulation(QIM)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hides bit 0 or 1 by slightly adjusting each pixel to match one of two quantizers.</a:t>
            </a:r>
            <a:b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detection, the receiver checks which quantizer the pixel fits into to get the hidden bit.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sets of quantization levels (quantizers) are defined.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Q₀ → represents bit 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Q₁ → represents bit 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Embedding: Each pixel is mapped to the nearest level of the corresponding quantizer based on the watermark bit.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Extraction: The decoder checks which quantizer level the pixel belongs to and retrieves the hidden bit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685DE-52A3-8110-754C-2CA67623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86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51CC-7ADD-3561-B314-5389AC3B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4F2EE-D604-FD95-443B-8F83CE964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Quantizer levels: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Q₀ → 0, 2, 4, 6… (for bit 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Q₁ → 1, 3, 5, 7… (for bit 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pixel = 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Watermark bit = 1 → nearest Q₁ level = 5 → pixel becomes 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pixel = 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Watermark bit = 0 → nearest Q₀ level = 4 → pixel becomes 4</a:t>
            </a:r>
          </a:p>
          <a:p>
            <a:pPr mar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Extraction: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5 → closer to Q₁ → bit 1 recovered</a:t>
            </a:r>
          </a:p>
          <a:p>
            <a:pPr marL="25146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4 → closer to Q₀ → bit 0 recovered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D5F29-BBB9-6A15-6A06-B7D6A589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071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6AAE-2404-9270-275E-296E3C58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B78A7-AD34-D095-FF60-F149E9BC7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Cover-Lossless Robust Watermarking Against Geometric Deformations[4]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proposes a watermarking method that can get back the original image when there is no attack and stay strong against changes like rotation and scaling.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uses Zernike Moments (ZMs) for embedding to ensure the watermark is robust to image rotation.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Zernike Moments (ZMs) are mathematical features that represent the shape and intensity patterns of an image.</a:t>
            </a:r>
          </a:p>
          <a:p>
            <a:pPr lvl="1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E37C7-8B68-82BD-0788-2B5C2071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568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82DF-0C4C-8BFF-DC4D-9DC1118FB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BC5F-74B5-248E-8BD8-D20CFD420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process: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Zernike Moments (ZMs) are calculated for the entire image (not local regions).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watermark is embedded into the ZM magnitudes using Quantization Index Modulation (QIM).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watermarked image is obtained by applying the inverse Zernike transform and embedding the compensation data reversibly.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ED050-99E2-FBBE-8DB2-1EDEF466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918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A1AE-3428-683E-17AE-71F62039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6F5EA-9579-A932-075C-71C460D51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&amp; Recovery Process: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receiver side, ZMs of the received image are recalculated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embedded watermark bits are extracted using the inverse QIM rule.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attack then the original image is perfectly reconstructed using the stored compensation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attacked then the ZMs’ invariance allows the watermark to be detected correctly even after rotation or scaling.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is done on global ZMs → not effective against cropping or localized geometric attacks.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B77A9-85D1-A3D2-DE94-C584947F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102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1D3F-A15A-62FF-1B6E-E53EA5E7C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Method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F3C11-FD0B-398E-6D24-C1C3FF60C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targets combined attacks such as cropping + rotation.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resist these, Zernike Moments are computed in local circular regions instead of over the whole image.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watermark is embedded redundantly in each local circular region to improve robustness.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CE142-2488-6713-A739-0B090DD3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171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4720-B49D-A985-5DBE-13619CA1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Method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0B08-F714-1CD1-698E-A79B76704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process: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SIFT(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Scale-Invariant Feature Transform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algorithm) to the cover image to detect key feature points.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detected points, select stable feature points and create non-overlapping circular regions around them.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Zernike Moments (ZMs) for each circular region.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the watermark bits into the ZM magnitudes using Quantization Index Modulation (QIM).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Inverse Zernike Transform to obtain the watermarked circular regions.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the first (h + l) bits of the non-circular region to store the hash value (H) and feature point location information (l).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91652-F202-784D-BF93-6EAF2333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33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6F76-1759-67E9-77D7-2A98D54F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Method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4339-5D47-82BB-0249-A274331B6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 the remaining non-circular area to embed compensation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Calculate the hash (H) of the final watermarked image and embed it into the reserved ‘h’ bits,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while the location information (l)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embedded into the next ‘l’ 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Now we have final watermarked image.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Watermark Extraction and Image Recovery Process: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first (h + l) bits from the non-circular region ,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contain the hash value (H) and feature point location information (l).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the extracted bits to zero and compute a new hash (H′) of the received image.</a:t>
            </a:r>
          </a:p>
          <a:p>
            <a:pPr marL="578358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H and H′:</a:t>
            </a:r>
          </a:p>
          <a:p>
            <a:pPr marL="761238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 = H′, → the image is not attacked.</a:t>
            </a:r>
          </a:p>
          <a:p>
            <a:pPr marL="761238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 ≠ H′, → the image is attacked.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A3A91-773B-3D84-4EBF-1B7952C2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200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8369-253D-3EAA-B928-0761B219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Method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7A61C-3FF3-CB88-6D9E-67EF0CC05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no attack is detected: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 info from ‘l’ to identify the same circular regions.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Zernike Moments (ZMs) of each circular region.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watermark bits using the inverse QIM rule.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compensation information from the non-watermarked area.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 the original image by applying Inverse Zernike Transform and adding the compensation information.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CBB03-BB79-D2F2-58FF-F4CD2521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928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B3B9-2E31-7A71-BF75-104DE372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Method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BC5AF-81A0-4EDE-1886-77F13C332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attack is detected: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image recovery is not possible because the compensation data may be damaged or lost.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SIFT on the attacked image to detect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locate the  circular embedding regions.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Zernike Moments (ZMs) on those regions and apply inverse QIM to extract the watermark bits.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some circular regions are cropped or missing, extract the watermark from the remaining intact regions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C4240-DCFC-0B09-B0E5-DDF64A70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73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004A-6BEB-FC95-2D83-3FF26EBE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947C7-8AEE-A5A4-9E7F-D971D327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SIFT for feature point detection which performs poorly under large geometric transformations and illumination changes.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SIFT points may shift or disappear after image scaling, rotation, or cropping, causing errors in region localization.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and matching are computationally expensive for high-resolution images.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detect repeatable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texture-less or low-contrast areas.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21BF2-A4E6-6427-DE3D-7B6F806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463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D858-414C-5DBA-0924-CC1952A5A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394977"/>
            <a:ext cx="10058400" cy="145075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A5AFE-C84B-D36F-89B1-91422C113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608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robust and reversible watermarking system resistant to cropping and geometric attacks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SuperPoint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CNN[7] and Local Zernike Moment embedding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0238B-9CF1-FC96-E27F-F27A84F3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51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DD34-5333-6D1E-AD6A-64C191A07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8E39F-7765-D99C-4396-901BFAD01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traditional SIFT-based feature extraction with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SuperPoint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CNN, a deep learning-based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detector and descriptor.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SuperPoint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high repeatability and stability under various image transformations.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robustness, accuracy, and processing efficiency compared to the existing SIFT-based approach.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491A8-8CC5-AF25-0668-4491463C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952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4FB9-0B34-4A71-7091-C1D5A557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Embedding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2D4DE-3B11-71E2-3D04-DD78F012F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23</a:t>
            </a:fld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2B4340-B242-53C4-72C0-1D65FD898A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246" y="1846263"/>
            <a:ext cx="986183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686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8F88A1-6835-7C23-2992-45EEDB92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24</a:t>
            </a:fld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2999431-3CE7-0C6D-FFFF-B2539A8C8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872" y="1225296"/>
            <a:ext cx="6583680" cy="508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D945AE-4871-A4DA-D9B4-4304BBEB45F6}"/>
              </a:ext>
            </a:extLst>
          </p:cNvPr>
          <p:cNvCxnSpPr/>
          <p:nvPr/>
        </p:nvCxnSpPr>
        <p:spPr>
          <a:xfrm>
            <a:off x="1234440" y="1051560"/>
            <a:ext cx="9857232" cy="822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E11D93-F5B3-FD54-CCFE-6483BCC07304}"/>
              </a:ext>
            </a:extLst>
          </p:cNvPr>
          <p:cNvSpPr txBox="1"/>
          <p:nvPr/>
        </p:nvSpPr>
        <p:spPr>
          <a:xfrm>
            <a:off x="1234440" y="364415"/>
            <a:ext cx="53367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architecture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293669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4D75-E638-C186-00B0-9C7164CAE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Method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B5FB5-5D0D-A3DE-0236-FF1943B54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invariance to geometric and photometric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stability which helps in consistent circle localization after attacks.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extraction accuracy and improved watermark integrity.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computational cost for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compared to SIFT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64EA5-78FD-1B3F-B0CA-F553FA89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308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A9CE-A5F3-531E-06E5-70AAC690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E6E91-DF46-D383-1575-4551AA41B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Watermarking protects digital media from tampering and unauthorized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local ZMs + CNN-detected features → robust, moderately cropping-resistant embedding.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ensures watermark extraction and cover image recovery.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foundation for future research in secure and reversible watermarking.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EE4A9-8297-D34B-7F55-4E48BD55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878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7AF2-CD88-A54B-3B90-33A7303C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D184D-BABD-B1B6-6BEB-A929962F8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09158"/>
            <a:ext cx="10058400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N. H. Lestriandoko and D.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Rosiyadi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“Reversible image watermarking based on histogram modification and virtual border,” in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8th International Conference on Telecommunication Systems, Services, and Applications (TSSA)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Oct. 2014, pp. 1–4.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Z. Ni, Y. Q. Shi, N. Ansari, W. Su, Q. Sun, and X. Lin, “Robust lossless image data hiding designed for semi-fragile image authentication,”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Circuits and Systems for Video Technology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4, pp. 497–509, Apr. 2008.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B. Chen and G. W. Wornell, “Quantization index modulation: A class of provably good methods for digital watermarking and information embedding,”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Inf. Theory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47, no. 4, pp. 1423–1443, May 2001.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G. Gao, M. Wang, and B. Wu, “Efficient robust reversible watermarking based on ZMs and integer wavelet transform,”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Ind. </a:t>
            </a:r>
            <a:r>
              <a:rPr lang="en-IN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20, no. 3, pp. 4115–4123, Mar. 2024.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H. Wang, H. Yao, C. Qin, and X. Zhang, “When robust reversible watermarking meets cropping attacks,”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Circuits Syst. Video Technol.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34, no. 1, pp. 1–14, 2024.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G. Gao, M. Wang, and B. Wu, “Efficient robust reversible watermarking based on ZMs and integer wavelet transform,”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Ind. </a:t>
            </a:r>
            <a:r>
              <a:rPr lang="en-IN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20, no. 3, pp. 4115–4123, Mar. 2024</a:t>
            </a:r>
          </a:p>
          <a:p>
            <a:pPr marL="0" indent="0"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37F9F-D430-B9F2-BCC9-201E6230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963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A38D-EA16-C30C-30D6-CA2BC4B6D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A25DC-1F0F-9953-C03E-957A30E75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Petrakis, Georgios. "a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 Implementation for Accurate Feature Extraction in Unstructured Environments."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International Archives of the Photogrammetry, Remote Sensing and Spatial Information Sciences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48 (2023): 1215-1222.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39427-1A9A-57CA-CEE9-CD6A654B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961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A74528-4713-160A-691A-6071141D7B3B}"/>
              </a:ext>
            </a:extLst>
          </p:cNvPr>
          <p:cNvSpPr txBox="1"/>
          <p:nvPr/>
        </p:nvSpPr>
        <p:spPr>
          <a:xfrm>
            <a:off x="4417996" y="2464067"/>
            <a:ext cx="40907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2B85E5-8EE7-1618-7F3D-CC85C05BA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964A-7B3A-4095-87D3-3590E8B41D46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9787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14975</TotalTime>
  <Words>2145</Words>
  <Application>Microsoft Office PowerPoint</Application>
  <PresentationFormat>Widescreen</PresentationFormat>
  <Paragraphs>221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Retrospect</vt:lpstr>
      <vt:lpstr>Cropping-Resistant Robust Reversible Watermarking Using Local Zernike Moments and CNN-Based Feature Detection</vt:lpstr>
      <vt:lpstr>Introduction</vt:lpstr>
      <vt:lpstr>Introduction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Base Method Overview</vt:lpstr>
      <vt:lpstr>Base Method Overview</vt:lpstr>
      <vt:lpstr>Base Method Overview</vt:lpstr>
      <vt:lpstr>Base Method Overview</vt:lpstr>
      <vt:lpstr>Base Method Overview</vt:lpstr>
      <vt:lpstr>Limitation of Existing System</vt:lpstr>
      <vt:lpstr>Objectives</vt:lpstr>
      <vt:lpstr>Proposed Improvement</vt:lpstr>
      <vt:lpstr>Embedding architecture</vt:lpstr>
      <vt:lpstr>PowerPoint Presentation</vt:lpstr>
      <vt:lpstr>Advantages of the Proposed Method</vt:lpstr>
      <vt:lpstr>Summary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sherin hashim</dc:creator>
  <cp:lastModifiedBy>sherin hashim</cp:lastModifiedBy>
  <cp:revision>23</cp:revision>
  <dcterms:created xsi:type="dcterms:W3CDTF">2025-10-23T07:40:19Z</dcterms:created>
  <dcterms:modified xsi:type="dcterms:W3CDTF">2025-11-19T17:51:25Z</dcterms:modified>
</cp:coreProperties>
</file>